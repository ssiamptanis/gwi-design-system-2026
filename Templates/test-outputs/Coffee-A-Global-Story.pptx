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telligent-vibrant-johnson/mnt/outputs/assets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359" y="6029362"/>
            <a:ext cx="1555394" cy="4222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6359" y="888797"/>
            <a:ext cx="55878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FBFAFA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Coffee: A Global Story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406359" y="2920594"/>
            <a:ext cx="55878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8E5E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From an Ethiopian legend to the world's favorite ritual, brewed in more than 70 countries and sipped everywhere in between.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59" y="406359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989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Coffee: A Global Story</a:t>
            </a:r>
            <a:endParaRPr lang="en-US" sz="1200" dirty="0"/>
          </a:p>
        </p:txBody>
      </p:sp>
      <p:pic>
        <p:nvPicPr>
          <p:cNvPr id="3" name="Image 0" descr="/sessions/intelligent-vibrant-johnson/mnt/outputs/assets/link-neutral1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1133" y="406359"/>
            <a:ext cx="254203" cy="2542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6359" y="888797"/>
            <a:ext cx="558789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1E1B1A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Today's</a:t>
            </a:r>
            <a:endParaRPr lang="en-US" sz="40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1E1B1A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agenda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197803" y="1143000"/>
            <a:ext cx="355702" cy="355702"/>
          </a:xfrm>
          <a:prstGeom prst="rect">
            <a:avLst/>
          </a:prstGeom>
          <a:solidFill>
            <a:srgbClr val="EDFFB8"/>
          </a:solidFill>
          <a:ln/>
        </p:spPr>
      </p:sp>
      <p:sp>
        <p:nvSpPr>
          <p:cNvPr id="6" name="Text 3"/>
          <p:cNvSpPr/>
          <p:nvPr/>
        </p:nvSpPr>
        <p:spPr>
          <a:xfrm>
            <a:off x="6197803" y="1143000"/>
            <a:ext cx="355702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1B1A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706210" y="1498702"/>
            <a:ext cx="5079492" cy="0"/>
          </a:xfrm>
          <a:prstGeom prst="line">
            <a:avLst/>
          </a:prstGeom>
          <a:noFill/>
          <a:ln w="9525">
            <a:solidFill>
              <a:srgbClr val="E8E5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06210" y="1143000"/>
            <a:ext cx="5079492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500" dirty="0">
                <a:solidFill>
                  <a:srgbClr val="28252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story of coffee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197803" y="1854403"/>
            <a:ext cx="355702" cy="355702"/>
          </a:xfrm>
          <a:prstGeom prst="rect">
            <a:avLst/>
          </a:prstGeom>
          <a:solidFill>
            <a:srgbClr val="EDFFB8"/>
          </a:solidFill>
          <a:ln/>
        </p:spPr>
      </p:sp>
      <p:sp>
        <p:nvSpPr>
          <p:cNvPr id="10" name="Text 7"/>
          <p:cNvSpPr/>
          <p:nvPr/>
        </p:nvSpPr>
        <p:spPr>
          <a:xfrm>
            <a:off x="6197803" y="1854403"/>
            <a:ext cx="355702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1B1A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706210" y="2210105"/>
            <a:ext cx="5079492" cy="0"/>
          </a:xfrm>
          <a:prstGeom prst="line">
            <a:avLst/>
          </a:prstGeom>
          <a:noFill/>
          <a:ln w="9525">
            <a:solidFill>
              <a:srgbClr val="E8E5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06210" y="1854403"/>
            <a:ext cx="5079492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500" dirty="0">
                <a:solidFill>
                  <a:srgbClr val="28252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From seed to cup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97803" y="2565806"/>
            <a:ext cx="355702" cy="355702"/>
          </a:xfrm>
          <a:prstGeom prst="rect">
            <a:avLst/>
          </a:prstGeom>
          <a:solidFill>
            <a:srgbClr val="EDFFB8"/>
          </a:solidFill>
          <a:ln/>
        </p:spPr>
      </p:sp>
      <p:sp>
        <p:nvSpPr>
          <p:cNvPr id="14" name="Text 11"/>
          <p:cNvSpPr/>
          <p:nvPr/>
        </p:nvSpPr>
        <p:spPr>
          <a:xfrm>
            <a:off x="6197803" y="2565806"/>
            <a:ext cx="355702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1B1A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706210" y="2921508"/>
            <a:ext cx="5079492" cy="0"/>
          </a:xfrm>
          <a:prstGeom prst="line">
            <a:avLst/>
          </a:prstGeom>
          <a:noFill/>
          <a:ln w="9525">
            <a:solidFill>
              <a:srgbClr val="E8E5E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06210" y="2565806"/>
            <a:ext cx="5079492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500" dirty="0">
                <a:solidFill>
                  <a:srgbClr val="28252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How the world discovered coffee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197803" y="3277210"/>
            <a:ext cx="355702" cy="355702"/>
          </a:xfrm>
          <a:prstGeom prst="rect">
            <a:avLst/>
          </a:prstGeom>
          <a:solidFill>
            <a:srgbClr val="EDFFB8"/>
          </a:solidFill>
          <a:ln/>
        </p:spPr>
      </p:sp>
      <p:sp>
        <p:nvSpPr>
          <p:cNvPr id="18" name="Text 15"/>
          <p:cNvSpPr/>
          <p:nvPr/>
        </p:nvSpPr>
        <p:spPr>
          <a:xfrm>
            <a:off x="6197803" y="3277210"/>
            <a:ext cx="355702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1B1A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706210" y="3632911"/>
            <a:ext cx="5079492" cy="0"/>
          </a:xfrm>
          <a:prstGeom prst="line">
            <a:avLst/>
          </a:prstGeom>
          <a:noFill/>
          <a:ln w="9525">
            <a:solidFill>
              <a:srgbClr val="E8E5E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06210" y="3277210"/>
            <a:ext cx="5079492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500" dirty="0">
                <a:solidFill>
                  <a:srgbClr val="28252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Who grows our coffee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197803" y="3988613"/>
            <a:ext cx="355702" cy="355702"/>
          </a:xfrm>
          <a:prstGeom prst="rect">
            <a:avLst/>
          </a:prstGeom>
          <a:solidFill>
            <a:srgbClr val="EDFFB8"/>
          </a:solidFill>
          <a:ln/>
        </p:spPr>
      </p:sp>
      <p:sp>
        <p:nvSpPr>
          <p:cNvPr id="22" name="Text 19"/>
          <p:cNvSpPr/>
          <p:nvPr/>
        </p:nvSpPr>
        <p:spPr>
          <a:xfrm>
            <a:off x="6197803" y="3988613"/>
            <a:ext cx="355702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1B1A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706210" y="4344314"/>
            <a:ext cx="5079492" cy="0"/>
          </a:xfrm>
          <a:prstGeom prst="line">
            <a:avLst/>
          </a:prstGeom>
          <a:noFill/>
          <a:ln w="9525">
            <a:solidFill>
              <a:srgbClr val="E8E5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06210" y="3988613"/>
            <a:ext cx="5079492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500" dirty="0">
                <a:solidFill>
                  <a:srgbClr val="28252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Culture in every cup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59" y="406359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989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Coffee: A Global Story</a:t>
            </a:r>
            <a:endParaRPr lang="en-US" sz="1200" dirty="0"/>
          </a:p>
        </p:txBody>
      </p:sp>
      <p:pic>
        <p:nvPicPr>
          <p:cNvPr id="3" name="Image 0" descr="/sessions/intelligent-vibrant-johnson/mnt/outputs/assets/link-neutral1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1133" y="406359"/>
            <a:ext cx="254203" cy="2542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6359" y="888797"/>
            <a:ext cx="558789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1E1B1A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A ritual,</a:t>
            </a:r>
            <a:endParaRPr lang="en-US" sz="40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1E1B1A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not just a drink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06359" y="2031797"/>
            <a:ext cx="55878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28252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More cups of coffee are poured each day than almost any other beverage, grown across more than 70 countries and shaping daily life on every continent.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06359" y="3937406"/>
            <a:ext cx="23746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400" dirty="0">
                <a:solidFill>
                  <a:srgbClr val="FF0077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2.25B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406359" y="4806086"/>
            <a:ext cx="23746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8252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cups of coffee consumed every day worldwide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136758" y="3937406"/>
            <a:ext cx="23746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400" dirty="0">
                <a:solidFill>
                  <a:srgbClr val="FF0077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70+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3136758" y="4806086"/>
            <a:ext cx="23746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8252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countries growing coffee commercially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67156" y="3937406"/>
            <a:ext cx="23746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400" dirty="0">
                <a:solidFill>
                  <a:srgbClr val="FF0077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125M</a:t>
            </a:r>
            <a:endParaRPr lang="en-US" sz="5400" dirty="0"/>
          </a:p>
        </p:txBody>
      </p:sp>
      <p:sp>
        <p:nvSpPr>
          <p:cNvPr id="11" name="Text 8"/>
          <p:cNvSpPr/>
          <p:nvPr/>
        </p:nvSpPr>
        <p:spPr>
          <a:xfrm>
            <a:off x="5867156" y="4806086"/>
            <a:ext cx="23746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8252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people whose livelihoods depend on coffee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597555" y="3937406"/>
            <a:ext cx="23746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400" dirty="0">
                <a:solidFill>
                  <a:srgbClr val="FF0077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60+</a:t>
            </a:r>
            <a:endParaRPr lang="en-US" sz="5400" dirty="0"/>
          </a:p>
        </p:txBody>
      </p:sp>
      <p:sp>
        <p:nvSpPr>
          <p:cNvPr id="13" name="Text 10"/>
          <p:cNvSpPr/>
          <p:nvPr/>
        </p:nvSpPr>
        <p:spPr>
          <a:xfrm>
            <a:off x="8597555" y="4806086"/>
            <a:ext cx="23746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8252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known coffee species, though only two dominate trade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59" y="406359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989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Coffee: A Global Story</a:t>
            </a:r>
            <a:endParaRPr lang="en-US" sz="1200" dirty="0"/>
          </a:p>
        </p:txBody>
      </p:sp>
      <p:pic>
        <p:nvPicPr>
          <p:cNvPr id="3" name="Image 0" descr="/sessions/intelligent-vibrant-johnson/mnt/outputs/assets/link-neutral1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1133" y="406359"/>
            <a:ext cx="254203" cy="2542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6359" y="888797"/>
            <a:ext cx="558789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1E1B1A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From seed</a:t>
            </a:r>
            <a:endParaRPr lang="en-US" sz="40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1E1B1A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to cup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06359" y="2031797"/>
            <a:ext cx="55878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28252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Coffee travels a long way before it reaches a mug, picked, processed, roasted, and brewed, often by hand at every step.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06359" y="3937406"/>
            <a:ext cx="3429000" cy="2103120"/>
          </a:xfrm>
          <a:prstGeom prst="roundRect">
            <a:avLst>
              <a:gd name="adj" fmla="val 6043"/>
            </a:avLst>
          </a:prstGeom>
          <a:solidFill>
            <a:srgbClr val="F9F7F6"/>
          </a:solidFill>
          <a:ln/>
        </p:spPr>
      </p:sp>
      <p:pic>
        <p:nvPicPr>
          <p:cNvPr id="7" name="Image 1" descr="/sessions/intelligent-vibrant-johnson/mnt/outputs/assets/icon-stor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56" y="4140403"/>
            <a:ext cx="368503" cy="3685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9356" y="4636008"/>
            <a:ext cx="3023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1B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Picked and pulped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09356" y="5093208"/>
            <a:ext cx="30230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8252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Ripe cherries are handpicked, then pulped to separate the bean from the fruit.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012753" y="3937406"/>
            <a:ext cx="3429000" cy="2103120"/>
          </a:xfrm>
          <a:prstGeom prst="roundRect">
            <a:avLst>
              <a:gd name="adj" fmla="val 6043"/>
            </a:avLst>
          </a:prstGeom>
          <a:solidFill>
            <a:srgbClr val="F9F7F6"/>
          </a:solidFill>
          <a:ln/>
        </p:spPr>
      </p:sp>
      <p:pic>
        <p:nvPicPr>
          <p:cNvPr id="11" name="Image 2" descr="/sessions/intelligent-vibrant-johnson/mnt/outputs/assets/icon-f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750" y="4140403"/>
            <a:ext cx="368503" cy="36850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215750" y="4636008"/>
            <a:ext cx="3023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1B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Dried and milled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4215750" y="5093208"/>
            <a:ext cx="30230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8252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Beans are dried, rested, and milled to remove the last protective layers.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7619147" y="3937406"/>
            <a:ext cx="3429000" cy="2103120"/>
          </a:xfrm>
          <a:prstGeom prst="roundRect">
            <a:avLst>
              <a:gd name="adj" fmla="val 6043"/>
            </a:avLst>
          </a:prstGeom>
          <a:solidFill>
            <a:srgbClr val="F9F7F6"/>
          </a:solidFill>
          <a:ln/>
        </p:spPr>
      </p:sp>
      <p:pic>
        <p:nvPicPr>
          <p:cNvPr id="15" name="Image 3" descr="/sessions/intelligent-vibrant-johnson/mnt/outputs/assets/icon-wor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2143" y="4140403"/>
            <a:ext cx="368503" cy="36850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822143" y="4636008"/>
            <a:ext cx="3023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1B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Roasted and brewed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7822143" y="5093208"/>
            <a:ext cx="30230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8252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Roasting unlocks flavor, and brewing turns it into the cup people know.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C00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59" y="406359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D2D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Coffee: A Global Story</a:t>
            </a:r>
            <a:endParaRPr lang="en-US" sz="1200" dirty="0"/>
          </a:p>
        </p:txBody>
      </p:sp>
      <p:pic>
        <p:nvPicPr>
          <p:cNvPr id="3" name="Image 0" descr="/sessions/intelligent-vibrant-johnson/mnt/outputs/assets/link-neutral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1133" y="406359"/>
            <a:ext cx="254203" cy="2542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6359" y="888797"/>
            <a:ext cx="55878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FBFAFA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Coffee: A Global Story</a:t>
            </a:r>
            <a:endParaRPr lang="en-US" sz="6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59" y="406359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989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Coffee: A Global Story</a:t>
            </a:r>
            <a:endParaRPr lang="en-US" sz="1200" dirty="0"/>
          </a:p>
        </p:txBody>
      </p:sp>
      <p:pic>
        <p:nvPicPr>
          <p:cNvPr id="3" name="Image 0" descr="/sessions/intelligent-vibrant-johnson/mnt/outputs/assets/link-neutral1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1133" y="406359"/>
            <a:ext cx="254203" cy="2542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6359" y="888797"/>
            <a:ext cx="558789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1E1B1A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How the world</a:t>
            </a:r>
            <a:endParaRPr lang="en-US" sz="40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1E1B1A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discovered coffee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06359" y="2031797"/>
            <a:ext cx="55878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28252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Coffee's journey from a highland forest to a global habit took centuries, and a few happy accidents.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06359" y="3937406"/>
            <a:ext cx="3429000" cy="2103120"/>
          </a:xfrm>
          <a:prstGeom prst="roundRect">
            <a:avLst>
              <a:gd name="adj" fmla="val 6043"/>
            </a:avLst>
          </a:prstGeom>
          <a:solidFill>
            <a:srgbClr val="F9F7F6"/>
          </a:solidFill>
          <a:ln/>
        </p:spPr>
      </p:sp>
      <p:pic>
        <p:nvPicPr>
          <p:cNvPr id="7" name="Image 1" descr="/sessions/intelligent-vibrant-johnson/mnt/outputs/assets/icon-u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56" y="4140403"/>
            <a:ext cx="368503" cy="3685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9356" y="4636008"/>
            <a:ext cx="3023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1B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 goatherd's discovery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09356" y="5093208"/>
            <a:ext cx="30230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8252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Legend traces coffee to a 9th century Ethiopian goatherd and his energized goats.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012753" y="3937406"/>
            <a:ext cx="3429000" cy="2103120"/>
          </a:xfrm>
          <a:prstGeom prst="roundRect">
            <a:avLst>
              <a:gd name="adj" fmla="val 6043"/>
            </a:avLst>
          </a:prstGeom>
          <a:solidFill>
            <a:srgbClr val="F9F7F6"/>
          </a:solidFill>
          <a:ln/>
        </p:spPr>
      </p:sp>
      <p:pic>
        <p:nvPicPr>
          <p:cNvPr id="11" name="Image 2" descr="/sessions/intelligent-vibrant-johnson/mnt/outputs/assets/icon-gro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750" y="4140403"/>
            <a:ext cx="368503" cy="36850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215750" y="4636008"/>
            <a:ext cx="3023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1B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Coffeehouses take hold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4215750" y="5093208"/>
            <a:ext cx="30230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8252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By the 1500s, qahveh khaneh coffeehouses were gathering spots across the Ottoman Empire.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7619147" y="3937406"/>
            <a:ext cx="3429000" cy="2103120"/>
          </a:xfrm>
          <a:prstGeom prst="roundRect">
            <a:avLst>
              <a:gd name="adj" fmla="val 6043"/>
            </a:avLst>
          </a:prstGeom>
          <a:solidFill>
            <a:srgbClr val="F9F7F6"/>
          </a:solidFill>
          <a:ln/>
        </p:spPr>
      </p:sp>
      <p:pic>
        <p:nvPicPr>
          <p:cNvPr id="15" name="Image 3" descr="/sessions/intelligent-vibrant-johnson/mnt/outputs/assets/icon-quadra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2143" y="4140403"/>
            <a:ext cx="368503" cy="36850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822143" y="4636008"/>
            <a:ext cx="3023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1B1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Europe catches on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7822143" y="5093208"/>
            <a:ext cx="30230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8252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Coffee reached Venice in the 1600s, and coffeehouses became hubs for debate in London, Paris, and Vienna.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59" y="406359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989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Coffee: A Global Story</a:t>
            </a:r>
            <a:endParaRPr lang="en-US" sz="1200" dirty="0"/>
          </a:p>
        </p:txBody>
      </p:sp>
      <p:pic>
        <p:nvPicPr>
          <p:cNvPr id="3" name="Image 0" descr="/sessions/intelligent-vibrant-johnson/mnt/outputs/assets/link-neutral1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1133" y="406359"/>
            <a:ext cx="254203" cy="2542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6359" y="888797"/>
            <a:ext cx="558789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1E1B1A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Who grows</a:t>
            </a:r>
            <a:endParaRPr lang="en-US" sz="40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4000" dirty="0">
                <a:solidFill>
                  <a:srgbClr val="1E1B1A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the world's coffee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06359" y="2031797"/>
            <a:ext cx="55878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28252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 handful of countries supply most of the world's coffee, each favoring different beans and growing conditions.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06359" y="3937406"/>
            <a:ext cx="23746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400" dirty="0">
                <a:solidFill>
                  <a:srgbClr val="FF0077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#1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406359" y="4806086"/>
            <a:ext cx="23746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8252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Brazil, the world's largest coffee producer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136758" y="3937406"/>
            <a:ext cx="23746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400" dirty="0">
                <a:solidFill>
                  <a:srgbClr val="FF0077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#2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3136758" y="4806086"/>
            <a:ext cx="23746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8252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Vietnam, the leading robusta grower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67156" y="3937406"/>
            <a:ext cx="23746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400" dirty="0">
                <a:solidFill>
                  <a:srgbClr val="FF0077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60/40</a:t>
            </a:r>
            <a:endParaRPr lang="en-US" sz="5400" dirty="0"/>
          </a:p>
        </p:txBody>
      </p:sp>
      <p:sp>
        <p:nvSpPr>
          <p:cNvPr id="11" name="Text 8"/>
          <p:cNvSpPr/>
          <p:nvPr/>
        </p:nvSpPr>
        <p:spPr>
          <a:xfrm>
            <a:off x="5867156" y="4806086"/>
            <a:ext cx="23746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8252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typical arabica to robusta split worldwide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597555" y="3937406"/>
            <a:ext cx="23746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400" dirty="0">
                <a:solidFill>
                  <a:srgbClr val="FF0077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1700s</a:t>
            </a:r>
            <a:endParaRPr lang="en-US" sz="5400" dirty="0"/>
          </a:p>
        </p:txBody>
      </p:sp>
      <p:sp>
        <p:nvSpPr>
          <p:cNvPr id="13" name="Text 10"/>
          <p:cNvSpPr/>
          <p:nvPr/>
        </p:nvSpPr>
        <p:spPr>
          <a:xfrm>
            <a:off x="8597555" y="4806086"/>
            <a:ext cx="237469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8252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when coffee plants first reached Brazil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F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59" y="406359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8252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Coffee: A Global Story</a:t>
            </a:r>
            <a:endParaRPr lang="en-US" sz="1200" dirty="0"/>
          </a:p>
        </p:txBody>
      </p:sp>
      <p:pic>
        <p:nvPicPr>
          <p:cNvPr id="3" name="Image 0" descr="/sessions/intelligent-vibrant-johnson/mnt/outputs/assets/link-lime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1133" y="406359"/>
            <a:ext cx="254203" cy="2542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6359" y="888797"/>
            <a:ext cx="55878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1E1B1A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Coffee: A Global Story</a:t>
            </a:r>
            <a:endParaRPr lang="en-US" sz="6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59" y="406359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989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Coffee: A Global Story</a:t>
            </a:r>
            <a:endParaRPr lang="en-US" sz="1200" dirty="0"/>
          </a:p>
        </p:txBody>
      </p:sp>
      <p:pic>
        <p:nvPicPr>
          <p:cNvPr id="3" name="Image 0" descr="/sessions/intelligent-vibrant-johnson/mnt/outputs/assets/link-neutral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1133" y="406359"/>
            <a:ext cx="254203" cy="2542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6359" y="825703"/>
            <a:ext cx="55878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200" dirty="0">
                <a:solidFill>
                  <a:srgbClr val="FBFAFA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Talking</a:t>
            </a:r>
            <a:endParaRPr lang="en-US" sz="5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5200" dirty="0">
                <a:solidFill>
                  <a:srgbClr val="FBFAFA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points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06359" y="3937406"/>
            <a:ext cx="26545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200" dirty="0">
                <a:solidFill>
                  <a:srgbClr val="EDFFB8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01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06359" y="4861865"/>
            <a:ext cx="26545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BFAF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 ritual older than tea in Europe. Ethiopian legend places coffee's discovery in the 9th century.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315066" y="3937406"/>
            <a:ext cx="26545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200" dirty="0">
                <a:solidFill>
                  <a:srgbClr val="EDFFB8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02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3315066" y="4861865"/>
            <a:ext cx="26545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BFAF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Named for its birthplace. The word coffee traces back to the Kaffa region of Ethiopia, where it was first cultivated.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23772" y="3937406"/>
            <a:ext cx="26545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200" dirty="0">
                <a:solidFill>
                  <a:srgbClr val="EDFFB8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03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6223772" y="4861865"/>
            <a:ext cx="26545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BFAF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Two beans dominate the world. Nearly every cup traces back to just two species, arabica and robusta.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32479" y="3937406"/>
            <a:ext cx="26545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200" dirty="0">
                <a:solidFill>
                  <a:srgbClr val="EDFFB8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04</a:t>
            </a:r>
            <a:endParaRPr lang="en-US" sz="5200" dirty="0"/>
          </a:p>
        </p:txBody>
      </p:sp>
      <p:sp>
        <p:nvSpPr>
          <p:cNvPr id="12" name="Text 9"/>
          <p:cNvSpPr/>
          <p:nvPr/>
        </p:nvSpPr>
        <p:spPr>
          <a:xfrm>
            <a:off x="9132479" y="4861865"/>
            <a:ext cx="26545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BFAF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Finland drinks the most. Finns consume more coffee per person than almost anywhere else on Earth.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telligent-vibrant-johnson/mnt/outputs/assets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3345" y="3205696"/>
            <a:ext cx="1645006" cy="446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6451641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B7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2026-08-20T11:44:58Z</dcterms:created>
  <dcterms:modified xsi:type="dcterms:W3CDTF">2026-08-20T11:44:58Z</dcterms:modified>
</cp:coreProperties>
</file>